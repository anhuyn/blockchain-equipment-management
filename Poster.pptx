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showGuides="1">
      <p:cViewPr>
        <p:scale>
          <a:sx n="125" d="100"/>
          <a:sy n="125" d="100"/>
        </p:scale>
        <p:origin x="428" y="-3796"/>
      </p:cViewPr>
      <p:guideLst>
        <p:guide orient="horz" pos="31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80132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534250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958024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831506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dirty="0"/>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5511AC-980B-485A-851E-DBD0B8F4CBAD}" type="datetimeFigureOut">
              <a:rPr lang="en-US" smtClean="0"/>
              <a:t>6/4/2026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42525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95511AC-980B-485A-851E-DBD0B8F4CBAD}" type="datetimeFigureOut">
              <a:rPr lang="en-US" smtClean="0"/>
              <a:t>6/4/2026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55432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6/4/2026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94379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2764958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4036842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612430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extLst>
      <p:ext uri="{BB962C8B-B14F-4D97-AF65-F5344CB8AC3E}">
        <p14:creationId xmlns:p14="http://schemas.microsoft.com/office/powerpoint/2010/main" val="3302977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95511AC-980B-485A-851E-DBD0B8F4CBAD}" type="datetimeFigureOut">
              <a:rPr lang="en-US" smtClean="0"/>
              <a:t>6/4/2026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6A2BFA2-7CEB-4D76-9663-917F13DE4B1E}" type="slidenum">
              <a:rPr lang="en-US" smtClean="0"/>
              <a:t>‹#›</a:t>
            </a:fld>
            <a:endParaRPr lang="en-US"/>
          </a:p>
        </p:txBody>
      </p:sp>
    </p:spTree>
    <p:extLst>
      <p:ext uri="{BB962C8B-B14F-4D97-AF65-F5344CB8AC3E}">
        <p14:creationId xmlns:p14="http://schemas.microsoft.com/office/powerpoint/2010/main" val="208273829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34C510F2-7255-D7C3-9DCD-43BEBE1666BB}"/>
              </a:ext>
            </a:extLst>
          </p:cNvPr>
          <p:cNvGrpSpPr/>
          <p:nvPr/>
        </p:nvGrpSpPr>
        <p:grpSpPr>
          <a:xfrm>
            <a:off x="6009740" y="1966271"/>
            <a:ext cx="683266" cy="212921"/>
            <a:chOff x="6071533" y="2181217"/>
            <a:chExt cx="683266" cy="215444"/>
          </a:xfrm>
        </p:grpSpPr>
        <p:sp>
          <p:nvSpPr>
            <p:cNvPr id="43" name="TextBox 42">
              <a:extLst>
                <a:ext uri="{FF2B5EF4-FFF2-40B4-BE49-F238E27FC236}">
                  <a16:creationId xmlns:a16="http://schemas.microsoft.com/office/drawing/2014/main" id="{4A57E6C6-5BC4-200A-55C5-E63038F9478E}"/>
                </a:ext>
              </a:extLst>
            </p:cNvPr>
            <p:cNvSpPr txBox="1"/>
            <p:nvPr/>
          </p:nvSpPr>
          <p:spPr>
            <a:xfrm>
              <a:off x="6105590" y="2181217"/>
              <a:ext cx="649209" cy="215444"/>
            </a:xfrm>
            <a:prstGeom prst="rect">
              <a:avLst/>
            </a:prstGeom>
            <a:noFill/>
          </p:spPr>
          <p:txBody>
            <a:bodyPr wrap="square">
              <a:spAutoFit/>
            </a:bodyPr>
            <a:lstStyle/>
            <a:p>
              <a:pPr algn="ctr"/>
              <a:r>
                <a:rPr lang="en-US" sz="800" b="1" err="1">
                  <a:latin typeface="Arial Hebrew Scholar" pitchFamily="2" charset="-79"/>
                  <a:cs typeface="Arial Hebrew Scholar" pitchFamily="2" charset="-79"/>
                </a:rPr>
                <a:t>Github</a:t>
              </a:r>
              <a:endParaRPr lang="en-US" sz="800" b="1">
                <a:latin typeface="Arial Hebrew Scholar" pitchFamily="2" charset="-79"/>
                <a:cs typeface="Arial Hebrew Scholar" pitchFamily="2" charset="-79"/>
              </a:endParaRPr>
            </a:p>
          </p:txBody>
        </p:sp>
        <p:pic>
          <p:nvPicPr>
            <p:cNvPr id="1028" name="Picture 4" descr="Github Logo - Free social media icons">
              <a:extLst>
                <a:ext uri="{FF2B5EF4-FFF2-40B4-BE49-F238E27FC236}">
                  <a16:creationId xmlns:a16="http://schemas.microsoft.com/office/drawing/2014/main" id="{4C95027D-6E4F-D713-8DAE-329A92FB3C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6" name="Table 35">
            <a:extLst>
              <a:ext uri="{FF2B5EF4-FFF2-40B4-BE49-F238E27FC236}">
                <a16:creationId xmlns:a16="http://schemas.microsoft.com/office/drawing/2014/main" id="{DEBFABA5-206B-548E-3C0E-CC2EE202AB31}"/>
              </a:ext>
            </a:extLst>
          </p:cNvPr>
          <p:cNvGraphicFramePr>
            <a:graphicFrameLocks noGrp="1"/>
          </p:cNvGraphicFramePr>
          <p:nvPr>
            <p:extLst>
              <p:ext uri="{D42A27DB-BD31-4B8C-83A1-F6EECF244321}">
                <p14:modId xmlns:p14="http://schemas.microsoft.com/office/powerpoint/2010/main" val="4082253465"/>
              </p:ext>
            </p:extLst>
          </p:nvPr>
        </p:nvGraphicFramePr>
        <p:xfrm>
          <a:off x="71979" y="2356347"/>
          <a:ext cx="3890421" cy="1981200"/>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24380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Giới thiệu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189349">
                <a:tc>
                  <a:txBody>
                    <a:bodyPr/>
                    <a:lstStyle/>
                    <a:p>
                      <a:r>
                        <a:rPr lang="vi-VN" sz="900"/>
                        <a:t>Hệ thống quản lý mượn trả thiết bị phòng học bằng Blockchain được xây dựng nhằm quản lý các thiết bị phục vụ hoạt động giảng dạy trong nhà trường. Các chức năng của hệ thống bao gồm:</a:t>
                      </a:r>
                    </a:p>
                    <a:p>
                      <a:pPr marL="171450" indent="-171450">
                        <a:buFont typeface="Arial" panose="020B0604020202020204" pitchFamily="34" charset="0"/>
                        <a:buChar char="•"/>
                      </a:pPr>
                      <a:r>
                        <a:rPr lang="vi-VN" sz="900"/>
                        <a:t>Dashboard tổng quan (số lượng thiết bị và trạng thái sử dụng) </a:t>
                      </a:r>
                    </a:p>
                    <a:p>
                      <a:pPr marL="171450" indent="-171450">
                        <a:buFont typeface="Arial" panose="020B0604020202020204" pitchFamily="34" charset="0"/>
                        <a:buChar char="•"/>
                      </a:pPr>
                      <a:r>
                        <a:rPr lang="vi-VN" sz="900"/>
                        <a:t>Quản lý thiết bị </a:t>
                      </a:r>
                    </a:p>
                    <a:p>
                      <a:pPr marL="171450" indent="-171450">
                        <a:buFont typeface="Arial" panose="020B0604020202020204" pitchFamily="34" charset="0"/>
                        <a:buChar char="•"/>
                      </a:pPr>
                      <a:r>
                        <a:rPr lang="vi-VN" sz="900"/>
                        <a:t>Mượn thiết bị </a:t>
                      </a:r>
                    </a:p>
                    <a:p>
                      <a:pPr marL="171450" indent="-171450">
                        <a:buFont typeface="Arial" panose="020B0604020202020204" pitchFamily="34" charset="0"/>
                        <a:buChar char="•"/>
                      </a:pPr>
                      <a:r>
                        <a:rPr lang="vi-VN" sz="900"/>
                        <a:t>Trả thiết bị </a:t>
                      </a:r>
                    </a:p>
                    <a:p>
                      <a:pPr marL="171450" indent="-171450">
                        <a:buFont typeface="Arial" panose="020B0604020202020204" pitchFamily="34" charset="0"/>
                        <a:buChar char="•"/>
                      </a:pPr>
                      <a:r>
                        <a:rPr lang="vi-VN" sz="900"/>
                        <a:t>Báo hỏng thiết bị </a:t>
                      </a:r>
                    </a:p>
                    <a:p>
                      <a:pPr marL="171450" indent="-171450">
                        <a:buFont typeface="Arial" panose="020B0604020202020204" pitchFamily="34" charset="0"/>
                        <a:buChar char="•"/>
                      </a:pPr>
                      <a:r>
                        <a:rPr lang="vi-VN" sz="900"/>
                        <a:t>Sửa chữa thiết bị </a:t>
                      </a:r>
                    </a:p>
                    <a:p>
                      <a:pPr marL="171450" indent="-171450">
                        <a:buFont typeface="Arial" panose="020B0604020202020204" pitchFamily="34" charset="0"/>
                        <a:buChar char="•"/>
                      </a:pPr>
                      <a:r>
                        <a:rPr lang="vi-VN" sz="900"/>
                        <a:t>Theo dõi lịch sử hoạt động </a:t>
                      </a:r>
                    </a:p>
                    <a:p>
                      <a:pPr marL="171450" indent="-171450">
                        <a:buFont typeface="Arial" panose="020B0604020202020204" pitchFamily="34" charset="0"/>
                        <a:buChar char="•"/>
                      </a:pPr>
                      <a:r>
                        <a:rPr lang="vi-VN" sz="900"/>
                        <a:t>Thống kê và báo cáo tình trạng thiết bị</a:t>
                      </a:r>
                    </a:p>
                    <a:p>
                      <a:pPr algn="just"/>
                      <a:endParaRPr lang="vi-VN" sz="90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7" name="Table 6">
            <a:extLst>
              <a:ext uri="{FF2B5EF4-FFF2-40B4-BE49-F238E27FC236}">
                <a16:creationId xmlns:a16="http://schemas.microsoft.com/office/drawing/2014/main" id="{56751592-98ED-BE76-ED93-630A31DCD2F6}"/>
              </a:ext>
            </a:extLst>
          </p:cNvPr>
          <p:cNvGraphicFramePr>
            <a:graphicFrameLocks noGrp="1"/>
          </p:cNvGraphicFramePr>
          <p:nvPr>
            <p:extLst>
              <p:ext uri="{D42A27DB-BD31-4B8C-83A1-F6EECF244321}">
                <p14:modId xmlns:p14="http://schemas.microsoft.com/office/powerpoint/2010/main" val="1548885551"/>
              </p:ext>
            </p:extLst>
          </p:nvPr>
        </p:nvGraphicFramePr>
        <p:xfrm>
          <a:off x="4027952" y="2360409"/>
          <a:ext cx="2789416" cy="2289637"/>
        </p:xfrm>
        <a:graphic>
          <a:graphicData uri="http://schemas.openxmlformats.org/drawingml/2006/table">
            <a:tbl>
              <a:tblPr firstRow="1" bandRow="1">
                <a:tableStyleId>{5C22544A-7EE6-4342-B048-85BDC9FD1C3A}</a:tableStyleId>
              </a:tblPr>
              <a:tblGrid>
                <a:gridCol w="2789416">
                  <a:extLst>
                    <a:ext uri="{9D8B030D-6E8A-4147-A177-3AD203B41FA5}">
                      <a16:colId xmlns:a16="http://schemas.microsoft.com/office/drawing/2014/main" val="1520847292"/>
                    </a:ext>
                  </a:extLst>
                </a:gridCol>
              </a:tblGrid>
              <a:tr h="252445">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Kiến trúc hệ thống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2037192">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pSp>
        <p:nvGrpSpPr>
          <p:cNvPr id="70" name="Group 69">
            <a:extLst>
              <a:ext uri="{FF2B5EF4-FFF2-40B4-BE49-F238E27FC236}">
                <a16:creationId xmlns:a16="http://schemas.microsoft.com/office/drawing/2014/main" id="{518BA7C7-D5B3-521F-4863-EB6372F08A16}"/>
              </a:ext>
            </a:extLst>
          </p:cNvPr>
          <p:cNvGrpSpPr/>
          <p:nvPr/>
        </p:nvGrpSpPr>
        <p:grpSpPr>
          <a:xfrm>
            <a:off x="0" y="-39866"/>
            <a:ext cx="6858000" cy="2289646"/>
            <a:chOff x="0" y="-40063"/>
            <a:chExt cx="6858000" cy="2289646"/>
          </a:xfrm>
        </p:grpSpPr>
        <p:grpSp>
          <p:nvGrpSpPr>
            <p:cNvPr id="27" name="Group 26">
              <a:extLst>
                <a:ext uri="{FF2B5EF4-FFF2-40B4-BE49-F238E27FC236}">
                  <a16:creationId xmlns:a16="http://schemas.microsoft.com/office/drawing/2014/main" id="{076F30E7-DE29-4869-A261-9356210766F3}"/>
                </a:ext>
              </a:extLst>
            </p:cNvPr>
            <p:cNvGrpSpPr/>
            <p:nvPr/>
          </p:nvGrpSpPr>
          <p:grpSpPr>
            <a:xfrm>
              <a:off x="0" y="-40063"/>
              <a:ext cx="6858000" cy="1149907"/>
              <a:chOff x="0" y="-40063"/>
              <a:chExt cx="6858000" cy="1149907"/>
            </a:xfrm>
          </p:grpSpPr>
          <p:pic>
            <p:nvPicPr>
              <p:cNvPr id="39" name="Picture 38">
                <a:extLst>
                  <a:ext uri="{FF2B5EF4-FFF2-40B4-BE49-F238E27FC236}">
                    <a16:creationId xmlns:a16="http://schemas.microsoft.com/office/drawing/2014/main" id="{7ABF4E65-9336-CED4-40B5-828F0E50C5E5}"/>
                  </a:ext>
                </a:extLst>
              </p:cNvPr>
              <p:cNvPicPr>
                <a:picLocks noChangeAspect="1"/>
              </p:cNvPicPr>
              <p:nvPr/>
            </p:nvPicPr>
            <p:blipFill>
              <a:blip r:embed="rId3"/>
              <a:stretch>
                <a:fillRect/>
              </a:stretch>
            </p:blipFill>
            <p:spPr>
              <a:xfrm>
                <a:off x="0" y="-1275"/>
                <a:ext cx="6858000" cy="1111119"/>
              </a:xfrm>
              <a:prstGeom prst="rect">
                <a:avLst/>
              </a:prstGeom>
            </p:spPr>
          </p:pic>
          <p:sp>
            <p:nvSpPr>
              <p:cNvPr id="40" name="TextBox 39">
                <a:extLst>
                  <a:ext uri="{FF2B5EF4-FFF2-40B4-BE49-F238E27FC236}">
                    <a16:creationId xmlns:a16="http://schemas.microsoft.com/office/drawing/2014/main" id="{E6C724AE-79C3-CBF7-13D9-AFB8C50186BA}"/>
                  </a:ext>
                </a:extLst>
              </p:cNvPr>
              <p:cNvSpPr txBox="1"/>
              <p:nvPr/>
            </p:nvSpPr>
            <p:spPr>
              <a:xfrm>
                <a:off x="2370087" y="-40063"/>
                <a:ext cx="2129108" cy="400110"/>
              </a:xfrm>
              <a:prstGeom prst="rect">
                <a:avLst/>
              </a:prstGeom>
              <a:noFill/>
            </p:spPr>
            <p:txBody>
              <a:bodyPr wrap="none" rtlCol="0">
                <a:spAutoFit/>
              </a:bodyPr>
              <a:lstStyle/>
              <a:p>
                <a:pPr algn="ctr"/>
                <a:r>
                  <a:rPr lang="en-US" sz="1000" b="1">
                    <a:solidFill>
                      <a:schemeClr val="bg1"/>
                    </a:solidFill>
                    <a:latin typeface="Arial Hebrew Scholar" pitchFamily="2" charset="-79"/>
                    <a:cs typeface="Arial Hebrew Scholar" pitchFamily="2" charset="-79"/>
                  </a:rPr>
                  <a:t>TRƯỜNG ĐẠI HỌC ĐẠI NAM</a:t>
                </a:r>
              </a:p>
              <a:p>
                <a:pPr algn="ctr"/>
                <a:r>
                  <a:rPr lang="en-US" sz="1000" b="1">
                    <a:solidFill>
                      <a:schemeClr val="bg1"/>
                    </a:solidFill>
                    <a:latin typeface="Arial Hebrew Scholar" pitchFamily="2" charset="-79"/>
                    <a:cs typeface="Arial Hebrew Scholar" pitchFamily="2" charset="-79"/>
                  </a:rPr>
                  <a:t>KHOA CÔNG NGHỆ THÔNG TIN</a:t>
                </a:r>
              </a:p>
            </p:txBody>
          </p:sp>
        </p:grpSp>
        <p:grpSp>
          <p:nvGrpSpPr>
            <p:cNvPr id="65" name="Group 64">
              <a:extLst>
                <a:ext uri="{FF2B5EF4-FFF2-40B4-BE49-F238E27FC236}">
                  <a16:creationId xmlns:a16="http://schemas.microsoft.com/office/drawing/2014/main" id="{36EBD40C-8A27-10B2-BA61-9E94053E57EA}"/>
                </a:ext>
              </a:extLst>
            </p:cNvPr>
            <p:cNvGrpSpPr/>
            <p:nvPr/>
          </p:nvGrpSpPr>
          <p:grpSpPr>
            <a:xfrm>
              <a:off x="0" y="1082578"/>
              <a:ext cx="6858000" cy="1167005"/>
              <a:chOff x="0" y="1082578"/>
              <a:chExt cx="6858000" cy="1167005"/>
            </a:xfrm>
          </p:grpSpPr>
          <p:sp>
            <p:nvSpPr>
              <p:cNvPr id="5" name="Title 1">
                <a:extLst>
                  <a:ext uri="{FF2B5EF4-FFF2-40B4-BE49-F238E27FC236}">
                    <a16:creationId xmlns:a16="http://schemas.microsoft.com/office/drawing/2014/main" id="{3D9E4F7B-BDBB-AF4A-B4AD-63280788DEC9}"/>
                  </a:ext>
                </a:extLst>
              </p:cNvPr>
              <p:cNvSpPr txBox="1">
                <a:spLocks/>
              </p:cNvSpPr>
              <p:nvPr/>
            </p:nvSpPr>
            <p:spPr>
              <a:xfrm>
                <a:off x="0" y="1082578"/>
                <a:ext cx="6765928" cy="329891"/>
              </a:xfrm>
              <a:prstGeom prst="rect">
                <a:avLst/>
              </a:prstGeom>
            </p:spPr>
            <p:txBody>
              <a:bodyPr vert="horz" lIns="20299" tIns="10150" rIns="20299" bIns="10150" rtlCol="0" anchor="ctr">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en-US" sz="1200" b="1">
                    <a:solidFill>
                      <a:schemeClr val="accent2"/>
                    </a:solidFill>
                    <a:latin typeface="Arial Hebrew Scholar" pitchFamily="2" charset="-79"/>
                    <a:cs typeface="Arial Hebrew Scholar" pitchFamily="2" charset="-79"/>
                  </a:rPr>
                  <a:t>HỆ THỐNG QUẢN LÝ MƯỢN TRẢ THIẾT BỊ PHÒNG HỌC BẰNG BLOCKCHAIN</a:t>
                </a:r>
              </a:p>
            </p:txBody>
          </p:sp>
          <p:sp>
            <p:nvSpPr>
              <p:cNvPr id="6" name="Rectangle 5">
                <a:extLst>
                  <a:ext uri="{FF2B5EF4-FFF2-40B4-BE49-F238E27FC236}">
                    <a16:creationId xmlns:a16="http://schemas.microsoft.com/office/drawing/2014/main" id="{FDB71301-74E9-3D33-787D-882C46CB1337}"/>
                  </a:ext>
                </a:extLst>
              </p:cNvPr>
              <p:cNvSpPr/>
              <p:nvPr/>
            </p:nvSpPr>
            <p:spPr>
              <a:xfrm>
                <a:off x="0" y="1337994"/>
                <a:ext cx="6858000" cy="1455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799" b="1"/>
                  <a:t>Lưu Thị Huyền</a:t>
                </a:r>
              </a:p>
            </p:txBody>
          </p:sp>
          <p:pic>
            <p:nvPicPr>
              <p:cNvPr id="63" name="Picture 62">
                <a:extLst>
                  <a:ext uri="{FF2B5EF4-FFF2-40B4-BE49-F238E27FC236}">
                    <a16:creationId xmlns:a16="http://schemas.microsoft.com/office/drawing/2014/main" id="{77C1551A-D245-378A-F0E2-59C5BABF9FCD}"/>
                  </a:ext>
                </a:extLst>
              </p:cNvPr>
              <p:cNvPicPr>
                <a:picLocks noChangeAspect="1"/>
              </p:cNvPicPr>
              <p:nvPr/>
            </p:nvPicPr>
            <p:blipFill>
              <a:blip r:embed="rId4"/>
              <a:stretch>
                <a:fillRect/>
              </a:stretch>
            </p:blipFill>
            <p:spPr>
              <a:xfrm>
                <a:off x="2620895" y="1512206"/>
                <a:ext cx="1616210" cy="737377"/>
              </a:xfrm>
              <a:prstGeom prst="rect">
                <a:avLst/>
              </a:prstGeom>
            </p:spPr>
          </p:pic>
        </p:grpSp>
      </p:grpSp>
      <p:graphicFrame>
        <p:nvGraphicFramePr>
          <p:cNvPr id="73" name="Table 72">
            <a:extLst>
              <a:ext uri="{FF2B5EF4-FFF2-40B4-BE49-F238E27FC236}">
                <a16:creationId xmlns:a16="http://schemas.microsoft.com/office/drawing/2014/main" id="{1CED74D1-B04A-EC38-34C4-DD7DDC44634A}"/>
              </a:ext>
            </a:extLst>
          </p:cNvPr>
          <p:cNvGraphicFramePr>
            <a:graphicFrameLocks noGrp="1"/>
          </p:cNvGraphicFramePr>
          <p:nvPr>
            <p:extLst>
              <p:ext uri="{D42A27DB-BD31-4B8C-83A1-F6EECF244321}">
                <p14:modId xmlns:p14="http://schemas.microsoft.com/office/powerpoint/2010/main" val="1037604483"/>
              </p:ext>
            </p:extLst>
          </p:nvPr>
        </p:nvGraphicFramePr>
        <p:xfrm>
          <a:off x="4027952" y="4670365"/>
          <a:ext cx="2789415" cy="2083128"/>
        </p:xfrm>
        <a:graphic>
          <a:graphicData uri="http://schemas.openxmlformats.org/drawingml/2006/table">
            <a:tbl>
              <a:tblPr firstRow="1" bandRow="1">
                <a:tableStyleId>{5C22544A-7EE6-4342-B048-85BDC9FD1C3A}</a:tableStyleId>
              </a:tblPr>
              <a:tblGrid>
                <a:gridCol w="2789415">
                  <a:extLst>
                    <a:ext uri="{9D8B030D-6E8A-4147-A177-3AD203B41FA5}">
                      <a16:colId xmlns:a16="http://schemas.microsoft.com/office/drawing/2014/main" val="1520847292"/>
                    </a:ext>
                  </a:extLst>
                </a:gridCol>
              </a:tblGrid>
              <a:tr h="276587">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Công nghệ sử dụng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1806541">
                <a:tc>
                  <a:txBody>
                    <a:bodyPr/>
                    <a:lstStyle/>
                    <a:p>
                      <a:pPr algn="just"/>
                      <a:endParaRPr lang="vi-VN" sz="900">
                        <a:latin typeface="Arial" panose="020B0604020202020204" pitchFamily="34" charset="0"/>
                        <a:cs typeface="Arial Hebrew Schol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graphicFrame>
        <p:nvGraphicFramePr>
          <p:cNvPr id="82" name="Table 81">
            <a:extLst>
              <a:ext uri="{FF2B5EF4-FFF2-40B4-BE49-F238E27FC236}">
                <a16:creationId xmlns:a16="http://schemas.microsoft.com/office/drawing/2014/main" id="{232FA873-71B4-C434-9F8C-88FB366D900C}"/>
              </a:ext>
            </a:extLst>
          </p:cNvPr>
          <p:cNvGraphicFramePr>
            <a:graphicFrameLocks noGrp="1"/>
          </p:cNvGraphicFramePr>
          <p:nvPr>
            <p:extLst>
              <p:ext uri="{D42A27DB-BD31-4B8C-83A1-F6EECF244321}">
                <p14:modId xmlns:p14="http://schemas.microsoft.com/office/powerpoint/2010/main" val="426452775"/>
              </p:ext>
            </p:extLst>
          </p:nvPr>
        </p:nvGraphicFramePr>
        <p:xfrm>
          <a:off x="71978" y="4246033"/>
          <a:ext cx="3890421" cy="5636037"/>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1520847292"/>
                    </a:ext>
                  </a:extLst>
                </a:gridCol>
              </a:tblGrid>
              <a:tr h="26005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a:solidFill>
                            <a:schemeClr val="bg1"/>
                          </a:solidFill>
                          <a:latin typeface="Arial" panose="020B0604020202020204" pitchFamily="34" charset="0"/>
                          <a:cs typeface="Arial" panose="020B0604020202020204" pitchFamily="34" charset="0"/>
                        </a:rPr>
                        <a:t>Giao </a:t>
                      </a:r>
                      <a:r>
                        <a:rPr lang="en-US" sz="1000" b="1" err="1">
                          <a:solidFill>
                            <a:schemeClr val="bg1"/>
                          </a:solidFill>
                          <a:latin typeface="Arial" panose="020B0604020202020204" pitchFamily="34" charset="0"/>
                          <a:cs typeface="Arial" panose="020B0604020202020204" pitchFamily="34" charset="0"/>
                        </a:rPr>
                        <a:t>diện</a:t>
                      </a:r>
                      <a:r>
                        <a:rPr lang="en-US" sz="1000" b="1">
                          <a:solidFill>
                            <a:schemeClr val="bg1"/>
                          </a:solidFill>
                          <a:latin typeface="Arial" panose="020B0604020202020204" pitchFamily="34" charset="0"/>
                          <a:cs typeface="Arial" panose="020B0604020202020204" pitchFamily="34" charset="0"/>
                        </a:rPr>
                        <a:t> </a:t>
                      </a:r>
                      <a:r>
                        <a:rPr lang="en-US" sz="1000" b="1" err="1">
                          <a:solidFill>
                            <a:schemeClr val="bg1"/>
                          </a:solidFill>
                          <a:latin typeface="Arial" panose="020B0604020202020204" pitchFamily="34" charset="0"/>
                          <a:cs typeface="Arial" panose="020B0604020202020204" pitchFamily="34" charset="0"/>
                        </a:rPr>
                        <a:t>ứng</a:t>
                      </a:r>
                      <a:r>
                        <a:rPr lang="en-US" sz="1000" b="1">
                          <a:solidFill>
                            <a:schemeClr val="bg1"/>
                          </a:solidFill>
                          <a:latin typeface="Arial" panose="020B0604020202020204" pitchFamily="34" charset="0"/>
                          <a:cs typeface="Arial" panose="020B0604020202020204" pitchFamily="34" charset="0"/>
                        </a:rPr>
                        <a:t> </a:t>
                      </a:r>
                      <a:r>
                        <a:rPr lang="en-US" sz="1000" b="1" err="1">
                          <a:solidFill>
                            <a:schemeClr val="bg1"/>
                          </a:solidFill>
                          <a:latin typeface="Arial" panose="020B0604020202020204" pitchFamily="34" charset="0"/>
                          <a:cs typeface="Arial" panose="020B0604020202020204" pitchFamily="34" charset="0"/>
                        </a:rPr>
                        <a:t>dụng</a:t>
                      </a:r>
                      <a:endParaRPr lang="en-US" sz="1000" b="1">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2535013272"/>
                  </a:ext>
                </a:extLst>
              </a:tr>
              <a:tr h="5375984">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000" b="1">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733821"/>
                  </a:ext>
                </a:extLst>
              </a:tr>
            </a:tbl>
          </a:graphicData>
        </a:graphic>
      </p:graphicFrame>
      <p:graphicFrame>
        <p:nvGraphicFramePr>
          <p:cNvPr id="90" name="Table 89">
            <a:extLst>
              <a:ext uri="{FF2B5EF4-FFF2-40B4-BE49-F238E27FC236}">
                <a16:creationId xmlns:a16="http://schemas.microsoft.com/office/drawing/2014/main" id="{0335167A-EED6-A656-BA4F-2AD2225BD2B1}"/>
              </a:ext>
            </a:extLst>
          </p:cNvPr>
          <p:cNvGraphicFramePr>
            <a:graphicFrameLocks noGrp="1"/>
          </p:cNvGraphicFramePr>
          <p:nvPr>
            <p:extLst>
              <p:ext uri="{D42A27DB-BD31-4B8C-83A1-F6EECF244321}">
                <p14:modId xmlns:p14="http://schemas.microsoft.com/office/powerpoint/2010/main" val="2438450481"/>
              </p:ext>
            </p:extLst>
          </p:nvPr>
        </p:nvGraphicFramePr>
        <p:xfrm>
          <a:off x="4037742" y="6824616"/>
          <a:ext cx="2779625" cy="2686978"/>
        </p:xfrm>
        <a:graphic>
          <a:graphicData uri="http://schemas.openxmlformats.org/drawingml/2006/table">
            <a:tbl>
              <a:tblPr firstRow="1" bandRow="1">
                <a:tableStyleId>{5C22544A-7EE6-4342-B048-85BDC9FD1C3A}</a:tableStyleId>
              </a:tblPr>
              <a:tblGrid>
                <a:gridCol w="2779625">
                  <a:extLst>
                    <a:ext uri="{9D8B030D-6E8A-4147-A177-3AD203B41FA5}">
                      <a16:colId xmlns:a16="http://schemas.microsoft.com/office/drawing/2014/main" val="1520847292"/>
                    </a:ext>
                  </a:extLst>
                </a:gridCol>
              </a:tblGrid>
              <a:tr h="309783">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00" b="1" err="1">
                          <a:solidFill>
                            <a:schemeClr val="bg1"/>
                          </a:solidFill>
                          <a:latin typeface="Arial" panose="020B0604020202020204" pitchFamily="34" charset="0"/>
                          <a:cs typeface="Arial" panose="020B0604020202020204" pitchFamily="34" charset="0"/>
                        </a:rPr>
                        <a:t>Hướng</a:t>
                      </a:r>
                      <a:r>
                        <a:rPr lang="en-US" sz="1000" b="1">
                          <a:solidFill>
                            <a:schemeClr val="bg1"/>
                          </a:solidFill>
                          <a:latin typeface="Arial" panose="020B0604020202020204" pitchFamily="34" charset="0"/>
                          <a:cs typeface="Arial" panose="020B0604020202020204" pitchFamily="34" charset="0"/>
                        </a:rPr>
                        <a:t> </a:t>
                      </a:r>
                      <a:r>
                        <a:rPr lang="en-US" sz="1000" b="1" err="1">
                          <a:solidFill>
                            <a:schemeClr val="bg1"/>
                          </a:solidFill>
                          <a:latin typeface="Arial" panose="020B0604020202020204" pitchFamily="34" charset="0"/>
                          <a:cs typeface="Arial" panose="020B0604020202020204" pitchFamily="34" charset="0"/>
                        </a:rPr>
                        <a:t>phát</a:t>
                      </a:r>
                      <a:r>
                        <a:rPr lang="en-US" sz="1000" b="1">
                          <a:solidFill>
                            <a:schemeClr val="bg1"/>
                          </a:solidFill>
                          <a:latin typeface="Arial" panose="020B0604020202020204" pitchFamily="34" charset="0"/>
                          <a:cs typeface="Arial" panose="020B0604020202020204" pitchFamily="34" charset="0"/>
                        </a:rPr>
                        <a:t> </a:t>
                      </a:r>
                      <a:r>
                        <a:rPr lang="en-US" sz="1000" b="1" err="1">
                          <a:solidFill>
                            <a:schemeClr val="bg1"/>
                          </a:solidFill>
                          <a:latin typeface="Arial" panose="020B0604020202020204" pitchFamily="34" charset="0"/>
                          <a:cs typeface="Arial" panose="020B0604020202020204" pitchFamily="34" charset="0"/>
                        </a:rPr>
                        <a:t>triển</a:t>
                      </a:r>
                      <a:endParaRPr lang="en-US" sz="1000" b="1">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2535013272"/>
                  </a:ext>
                </a:extLst>
              </a:tr>
              <a:tr h="2377195">
                <a:tc>
                  <a:txBody>
                    <a:bodyPr/>
                    <a:lstStyle/>
                    <a:p>
                      <a:r>
                        <a:rPr lang="en-US" sz="1000" err="1">
                          <a:latin typeface="Arial" panose="020B0604020202020204" pitchFamily="34" charset="0"/>
                          <a:cs typeface="Arial" panose="020B0604020202020204" pitchFamily="34" charset="0"/>
                        </a:rPr>
                        <a:t>Phát</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triển</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thêm</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các</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chức</a:t>
                      </a:r>
                      <a:r>
                        <a:rPr lang="en-US" sz="1000">
                          <a:latin typeface="Arial" panose="020B0604020202020204" pitchFamily="34" charset="0"/>
                          <a:cs typeface="Arial" panose="020B0604020202020204" pitchFamily="34" charset="0"/>
                        </a:rPr>
                        <a:t> </a:t>
                      </a:r>
                      <a:r>
                        <a:rPr lang="en-US" sz="1000" err="1">
                          <a:latin typeface="Arial" panose="020B0604020202020204" pitchFamily="34" charset="0"/>
                          <a:cs typeface="Arial" panose="020B0604020202020204" pitchFamily="34" charset="0"/>
                        </a:rPr>
                        <a:t>năng</a:t>
                      </a:r>
                      <a:r>
                        <a:rPr lang="en-US" sz="1000">
                          <a:latin typeface="Arial" panose="020B0604020202020204" pitchFamily="34" charset="0"/>
                          <a:cs typeface="Arial" panose="020B0604020202020204" pitchFamily="34" charset="0"/>
                        </a:rPr>
                        <a:t>:</a:t>
                      </a:r>
                    </a:p>
                    <a:p>
                      <a:pPr marL="171450" indent="-171450">
                        <a:buFont typeface="Arial" panose="020B0604020202020204" pitchFamily="34" charset="0"/>
                        <a:buChar char="•"/>
                      </a:pPr>
                      <a:r>
                        <a:rPr lang="vi-VN" sz="1000"/>
                        <a:t>Quản lý thông tin người mượn (họ tên, mã sinh viên, mã giảng viên). </a:t>
                      </a:r>
                    </a:p>
                    <a:p>
                      <a:pPr marL="171450" indent="-171450">
                        <a:buFont typeface="Arial" panose="020B0604020202020204" pitchFamily="34" charset="0"/>
                        <a:buChar char="•"/>
                      </a:pPr>
                      <a:r>
                        <a:rPr lang="vi-VN" sz="1000"/>
                        <a:t>Đặt lịch mượn thiết bị trước theo thời gian. </a:t>
                      </a:r>
                    </a:p>
                    <a:p>
                      <a:pPr marL="171450" indent="-171450">
                        <a:buFont typeface="Arial" panose="020B0604020202020204" pitchFamily="34" charset="0"/>
                        <a:buChar char="•"/>
                      </a:pPr>
                      <a:r>
                        <a:rPr lang="vi-VN" sz="1000"/>
                        <a:t>Gửi thông báo nhắc trả thiết bị tự động. </a:t>
                      </a:r>
                    </a:p>
                    <a:p>
                      <a:pPr marL="171450" indent="-171450">
                        <a:buFont typeface="Arial" panose="020B0604020202020204" pitchFamily="34" charset="0"/>
                        <a:buChar char="•"/>
                      </a:pPr>
                      <a:r>
                        <a:rPr lang="vi-VN" sz="1000"/>
                        <a:t>Phát triển ứng dụng trên nền tảng di động (Android/iOS). </a:t>
                      </a:r>
                    </a:p>
                    <a:p>
                      <a:pPr marL="171450" indent="-171450">
                        <a:buFont typeface="Arial" panose="020B0604020202020204" pitchFamily="34" charset="0"/>
                        <a:buChar char="•"/>
                      </a:pPr>
                      <a:r>
                        <a:rPr lang="vi-VN" sz="1000"/>
                        <a:t>Tích hợp mã QR để mượn và trả thiết bị nhanh chóng. </a:t>
                      </a:r>
                    </a:p>
                    <a:p>
                      <a:pPr marL="171450" indent="-171450">
                        <a:buFont typeface="Arial" panose="020B0604020202020204" pitchFamily="34" charset="0"/>
                        <a:buChar char="•"/>
                      </a:pPr>
                      <a:r>
                        <a:rPr lang="vi-VN" sz="1000"/>
                        <a:t>Xây dựng hệ thống thống kê và dự báo nhu cầu sử dụng thiết bị.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7830843"/>
                  </a:ext>
                </a:extLst>
              </a:tr>
            </a:tbl>
          </a:graphicData>
        </a:graphic>
      </p:graphicFrame>
      <p:sp>
        <p:nvSpPr>
          <p:cNvPr id="92" name="TextBox 91">
            <a:extLst>
              <a:ext uri="{FF2B5EF4-FFF2-40B4-BE49-F238E27FC236}">
                <a16:creationId xmlns:a16="http://schemas.microsoft.com/office/drawing/2014/main" id="{A0C06921-7CE0-2846-54DF-FEF2E2972390}"/>
              </a:ext>
            </a:extLst>
          </p:cNvPr>
          <p:cNvSpPr txBox="1"/>
          <p:nvPr/>
        </p:nvSpPr>
        <p:spPr>
          <a:xfrm>
            <a:off x="3943438" y="9586860"/>
            <a:ext cx="2958439" cy="215444"/>
          </a:xfrm>
          <a:prstGeom prst="rect">
            <a:avLst/>
          </a:prstGeom>
          <a:noFill/>
        </p:spPr>
        <p:txBody>
          <a:bodyPr wrap="square">
            <a:spAutoFit/>
          </a:bodyPr>
          <a:lstStyle/>
          <a:p>
            <a:pPr algn="ctr"/>
            <a:r>
              <a:rPr lang="en-US" sz="750">
                <a:latin typeface="Arial" panose="020B0604020202020204" pitchFamily="34" charset="0"/>
                <a:cs typeface="Arial Hebrew Scholar"/>
              </a:rPr>
              <a:t>©</a:t>
            </a:r>
            <a:r>
              <a:rPr lang="en-US" sz="750" err="1">
                <a:latin typeface="Arial" panose="020B0604020202020204" pitchFamily="34" charset="0"/>
                <a:cs typeface="Arial Hebrew Scholar"/>
              </a:rPr>
              <a:t>AIoTLab</a:t>
            </a:r>
            <a:r>
              <a:rPr lang="en-US" sz="750">
                <a:latin typeface="Arial" panose="020B0604020202020204" pitchFamily="34" charset="0"/>
                <a:cs typeface="Arial Hebrew Scholar"/>
              </a:rPr>
              <a:t>, Faculty of Information Technology, </a:t>
            </a:r>
            <a:r>
              <a:rPr lang="en-US" sz="750" err="1">
                <a:latin typeface="Arial" panose="020B0604020202020204" pitchFamily="34" charset="0"/>
                <a:cs typeface="Arial Hebrew Scholar"/>
              </a:rPr>
              <a:t>DaiNam</a:t>
            </a:r>
            <a:r>
              <a:rPr lang="en-US" sz="750">
                <a:latin typeface="Arial" panose="020B0604020202020204" pitchFamily="34" charset="0"/>
                <a:cs typeface="Arial Hebrew Scholar"/>
              </a:rPr>
              <a:t> University</a:t>
            </a:r>
          </a:p>
        </p:txBody>
      </p:sp>
      <p:pic>
        <p:nvPicPr>
          <p:cNvPr id="13" name="Hình ảnh 12" descr="Ảnh có chứa mẫu, hình vuông, điểm ảnh, thiết kế&#10;&#10;Nội dung do AI tạo ra có thể không chính xác.">
            <a:extLst>
              <a:ext uri="{FF2B5EF4-FFF2-40B4-BE49-F238E27FC236}">
                <a16:creationId xmlns:a16="http://schemas.microsoft.com/office/drawing/2014/main" id="{1972004E-6C2D-41F5-D089-3148077E53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67540" y="1324924"/>
            <a:ext cx="646309" cy="646309"/>
          </a:xfrm>
          <a:prstGeom prst="rect">
            <a:avLst/>
          </a:prstGeom>
        </p:spPr>
      </p:pic>
      <p:pic>
        <p:nvPicPr>
          <p:cNvPr id="4" name="Picture 3" descr="A group of rectangular colored buttons with text">
            <a:extLst>
              <a:ext uri="{FF2B5EF4-FFF2-40B4-BE49-F238E27FC236}">
                <a16:creationId xmlns:a16="http://schemas.microsoft.com/office/drawing/2014/main" id="{A61B9992-E13F-0199-4DA8-41215403677F}"/>
              </a:ext>
            </a:extLst>
          </p:cNvPr>
          <p:cNvPicPr>
            <a:picLocks noChangeAspect="1"/>
          </p:cNvPicPr>
          <p:nvPr/>
        </p:nvPicPr>
        <p:blipFill>
          <a:blip r:embed="rId6"/>
          <a:stretch>
            <a:fillRect/>
          </a:stretch>
        </p:blipFill>
        <p:spPr>
          <a:xfrm>
            <a:off x="4192205" y="4987546"/>
            <a:ext cx="2316095" cy="1511893"/>
          </a:xfrm>
          <a:prstGeom prst="rect">
            <a:avLst/>
          </a:prstGeom>
        </p:spPr>
      </p:pic>
      <p:pic>
        <p:nvPicPr>
          <p:cNvPr id="11" name="Picture 10" descr="A diagram of a company">
            <a:extLst>
              <a:ext uri="{FF2B5EF4-FFF2-40B4-BE49-F238E27FC236}">
                <a16:creationId xmlns:a16="http://schemas.microsoft.com/office/drawing/2014/main" id="{D0EFEE83-984E-7B96-8645-A19C355F74A0}"/>
              </a:ext>
            </a:extLst>
          </p:cNvPr>
          <p:cNvPicPr>
            <a:picLocks noChangeAspect="1"/>
          </p:cNvPicPr>
          <p:nvPr/>
        </p:nvPicPr>
        <p:blipFill>
          <a:blip r:embed="rId7"/>
          <a:stretch>
            <a:fillRect/>
          </a:stretch>
        </p:blipFill>
        <p:spPr>
          <a:xfrm>
            <a:off x="4037743" y="2895671"/>
            <a:ext cx="2748278" cy="1508063"/>
          </a:xfrm>
          <a:prstGeom prst="rect">
            <a:avLst/>
          </a:prstGeom>
        </p:spPr>
      </p:pic>
      <p:pic>
        <p:nvPicPr>
          <p:cNvPr id="16" name="Picture 15">
            <a:extLst>
              <a:ext uri="{FF2B5EF4-FFF2-40B4-BE49-F238E27FC236}">
                <a16:creationId xmlns:a16="http://schemas.microsoft.com/office/drawing/2014/main" id="{7DBF3FA8-7F75-CD49-2064-16C18178F241}"/>
              </a:ext>
            </a:extLst>
          </p:cNvPr>
          <p:cNvPicPr>
            <a:picLocks noChangeAspect="1"/>
          </p:cNvPicPr>
          <p:nvPr/>
        </p:nvPicPr>
        <p:blipFill>
          <a:blip r:embed="rId8"/>
          <a:stretch>
            <a:fillRect/>
          </a:stretch>
        </p:blipFill>
        <p:spPr>
          <a:xfrm>
            <a:off x="137828" y="4553719"/>
            <a:ext cx="3758717" cy="2316420"/>
          </a:xfrm>
          <a:prstGeom prst="rect">
            <a:avLst/>
          </a:prstGeom>
        </p:spPr>
      </p:pic>
      <p:pic>
        <p:nvPicPr>
          <p:cNvPr id="18" name="Picture 17">
            <a:extLst>
              <a:ext uri="{FF2B5EF4-FFF2-40B4-BE49-F238E27FC236}">
                <a16:creationId xmlns:a16="http://schemas.microsoft.com/office/drawing/2014/main" id="{FAF477F6-8299-CE5C-56DD-681642F3EE7C}"/>
              </a:ext>
            </a:extLst>
          </p:cNvPr>
          <p:cNvPicPr>
            <a:picLocks noChangeAspect="1"/>
          </p:cNvPicPr>
          <p:nvPr/>
        </p:nvPicPr>
        <p:blipFill>
          <a:blip r:embed="rId9"/>
          <a:stretch>
            <a:fillRect/>
          </a:stretch>
        </p:blipFill>
        <p:spPr>
          <a:xfrm>
            <a:off x="137828" y="6988587"/>
            <a:ext cx="3758719" cy="1579222"/>
          </a:xfrm>
          <a:prstGeom prst="rect">
            <a:avLst/>
          </a:prstGeom>
        </p:spPr>
      </p:pic>
      <p:pic>
        <p:nvPicPr>
          <p:cNvPr id="20" name="Picture 19">
            <a:extLst>
              <a:ext uri="{FF2B5EF4-FFF2-40B4-BE49-F238E27FC236}">
                <a16:creationId xmlns:a16="http://schemas.microsoft.com/office/drawing/2014/main" id="{DDAFF1A8-FD30-3979-C938-FDF395003114}"/>
              </a:ext>
            </a:extLst>
          </p:cNvPr>
          <p:cNvPicPr>
            <a:picLocks noChangeAspect="1"/>
          </p:cNvPicPr>
          <p:nvPr/>
        </p:nvPicPr>
        <p:blipFill>
          <a:blip r:embed="rId10"/>
          <a:stretch>
            <a:fillRect/>
          </a:stretch>
        </p:blipFill>
        <p:spPr>
          <a:xfrm>
            <a:off x="137826" y="8608493"/>
            <a:ext cx="3758719" cy="1193812"/>
          </a:xfrm>
          <a:prstGeom prst="rect">
            <a:avLst/>
          </a:prstGeom>
        </p:spPr>
      </p:pic>
    </p:spTree>
    <p:extLst>
      <p:ext uri="{BB962C8B-B14F-4D97-AF65-F5344CB8AC3E}">
        <p14:creationId xmlns:p14="http://schemas.microsoft.com/office/powerpoint/2010/main" val="13358698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669</TotalTime>
  <Words>228</Words>
  <Application>Microsoft Office PowerPoint</Application>
  <PresentationFormat>A4 Paper (210x297 mm)</PresentationFormat>
  <Paragraphs>27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Arial Hebrew Scholar</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Huyeen260203@outlook.com</cp:lastModifiedBy>
  <cp:revision>97</cp:revision>
  <dcterms:created xsi:type="dcterms:W3CDTF">2023-07-02T07:57:15Z</dcterms:created>
  <dcterms:modified xsi:type="dcterms:W3CDTF">2026-06-04T04:51:13Z</dcterms:modified>
</cp:coreProperties>
</file>